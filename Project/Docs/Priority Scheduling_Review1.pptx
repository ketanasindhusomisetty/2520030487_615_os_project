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65" r:id="rId4"/>
    <p:sldId id="266" r:id="rId5"/>
    <p:sldId id="267" r:id="rId6"/>
    <p:sldId id="268" r:id="rId7"/>
    <p:sldId id="269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014480"/>
            <a:ext cx="5601960" cy="221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8291160" y="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oogle Shape;12;p2"/>
          <p:cNvGrpSpPr/>
          <p:nvPr/>
        </p:nvGrpSpPr>
        <p:grpSpPr>
          <a:xfrm>
            <a:off x="-55080" y="539280"/>
            <a:ext cx="9198720" cy="4604040"/>
            <a:chOff x="-55080" y="539280"/>
            <a:chExt cx="9198720" cy="4604040"/>
          </a:xfrm>
        </p:grpSpPr>
        <p:cxnSp>
          <p:nvCxnSpPr>
            <p:cNvPr id="5" name="Google Shape;13;p2"/>
            <p:cNvCxnSpPr/>
            <p:nvPr/>
          </p:nvCxnSpPr>
          <p:spPr>
            <a:xfrm>
              <a:off x="-55080" y="4608360"/>
              <a:ext cx="48708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6" name="Google Shape;14;p2"/>
            <p:cNvCxnSpPr/>
            <p:nvPr/>
          </p:nvCxnSpPr>
          <p:spPr>
            <a:xfrm>
              <a:off x="4751640" y="539280"/>
              <a:ext cx="439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7" name="Google Shape;15;p2"/>
            <p:cNvCxnSpPr/>
            <p:nvPr/>
          </p:nvCxnSpPr>
          <p:spPr>
            <a:xfrm flipV="1">
              <a:off x="8430480" y="804960"/>
              <a:ext cx="360" cy="433872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1691280" y="1759320"/>
            <a:ext cx="5761440" cy="20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Google Shape;145;p21"/>
          <p:cNvSpPr/>
          <p:nvPr/>
        </p:nvSpPr>
        <p:spPr>
          <a:xfrm flipH="1">
            <a:off x="-720" y="4875840"/>
            <a:ext cx="9143640" cy="26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" name="Google Shape;146;p21"/>
          <p:cNvGrpSpPr/>
          <p:nvPr/>
        </p:nvGrpSpPr>
        <p:grpSpPr>
          <a:xfrm>
            <a:off x="276480" y="267120"/>
            <a:ext cx="8860320" cy="4876200"/>
            <a:chOff x="276480" y="267120"/>
            <a:chExt cx="8860320" cy="4876200"/>
          </a:xfrm>
        </p:grpSpPr>
        <p:cxnSp>
          <p:nvCxnSpPr>
            <p:cNvPr id="13" name="Google Shape;147;p21"/>
            <p:cNvCxnSpPr/>
            <p:nvPr/>
          </p:nvCxnSpPr>
          <p:spPr>
            <a:xfrm flipV="1">
              <a:off x="276480" y="2571840"/>
              <a:ext cx="360" cy="257184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4" name="Google Shape;148;p21"/>
            <p:cNvCxnSpPr/>
            <p:nvPr/>
          </p:nvCxnSpPr>
          <p:spPr>
            <a:xfrm>
              <a:off x="4564800" y="267120"/>
              <a:ext cx="457236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48240" y="1185480"/>
            <a:ext cx="486288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Google Shape;152;p22"/>
          <p:cNvSpPr/>
          <p:nvPr/>
        </p:nvSpPr>
        <p:spPr>
          <a:xfrm rot="10800000" flipH="1">
            <a:off x="8291520" y="360"/>
            <a:ext cx="85248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" name="Google Shape;153;p22"/>
          <p:cNvGrpSpPr/>
          <p:nvPr/>
        </p:nvGrpSpPr>
        <p:grpSpPr>
          <a:xfrm>
            <a:off x="-55080" y="0"/>
            <a:ext cx="9198720" cy="4603680"/>
            <a:chOff x="-55080" y="0"/>
            <a:chExt cx="9198720" cy="4603680"/>
          </a:xfrm>
        </p:grpSpPr>
        <p:cxnSp>
          <p:nvCxnSpPr>
            <p:cNvPr id="18" name="Google Shape;154;p22"/>
            <p:cNvCxnSpPr/>
            <p:nvPr/>
          </p:nvCxnSpPr>
          <p:spPr>
            <a:xfrm>
              <a:off x="-55080" y="534600"/>
              <a:ext cx="45716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19" name="Google Shape;155;p22"/>
            <p:cNvCxnSpPr/>
            <p:nvPr/>
          </p:nvCxnSpPr>
          <p:spPr>
            <a:xfrm>
              <a:off x="4584960" y="4603680"/>
              <a:ext cx="455904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0" name="Google Shape;156;p22"/>
            <p:cNvCxnSpPr/>
            <p:nvPr/>
          </p:nvCxnSpPr>
          <p:spPr>
            <a:xfrm>
              <a:off x="8430480" y="0"/>
              <a:ext cx="360" cy="4338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654640" y="530280"/>
            <a:ext cx="383436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3" name="Google Shape;261;p32"/>
          <p:cNvGrpSpPr/>
          <p:nvPr/>
        </p:nvGrpSpPr>
        <p:grpSpPr>
          <a:xfrm>
            <a:off x="713520" y="2579400"/>
            <a:ext cx="8430480" cy="2563920"/>
            <a:chOff x="713520" y="2579400"/>
            <a:chExt cx="8430480" cy="2563920"/>
          </a:xfrm>
        </p:grpSpPr>
        <p:cxnSp>
          <p:nvCxnSpPr>
            <p:cNvPr id="24" name="Google Shape;262;p32"/>
            <p:cNvCxnSpPr/>
            <p:nvPr/>
          </p:nvCxnSpPr>
          <p:spPr>
            <a:xfrm>
              <a:off x="2838960" y="4875840"/>
              <a:ext cx="630540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25" name="Google Shape;263;p32"/>
            <p:cNvCxnSpPr/>
            <p:nvPr/>
          </p:nvCxnSpPr>
          <p:spPr>
            <a:xfrm flipV="1">
              <a:off x="713520" y="2579400"/>
              <a:ext cx="360" cy="256428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26" name="Google Shape;264;p32"/>
          <p:cNvSpPr/>
          <p:nvPr/>
        </p:nvSpPr>
        <p:spPr>
          <a:xfrm>
            <a:off x="2654640" y="3304440"/>
            <a:ext cx="3834360" cy="79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Commissioner"/>
                <a:ea typeface="Commissioner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13160" y="470520"/>
            <a:ext cx="7717320" cy="54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Google Shape;39;p6"/>
          <p:cNvSpPr/>
          <p:nvPr/>
        </p:nvSpPr>
        <p:spPr>
          <a:xfrm>
            <a:off x="0" y="0"/>
            <a:ext cx="28332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9" name="Google Shape;40;p6"/>
          <p:cNvGrpSpPr/>
          <p:nvPr/>
        </p:nvGrpSpPr>
        <p:grpSpPr>
          <a:xfrm>
            <a:off x="141840" y="0"/>
            <a:ext cx="9001800" cy="4875840"/>
            <a:chOff x="141840" y="0"/>
            <a:chExt cx="9001800" cy="4875840"/>
          </a:xfrm>
        </p:grpSpPr>
        <p:cxnSp>
          <p:nvCxnSpPr>
            <p:cNvPr id="30" name="Google Shape;41;p6"/>
            <p:cNvCxnSpPr/>
            <p:nvPr/>
          </p:nvCxnSpPr>
          <p:spPr>
            <a:xfrm>
              <a:off x="4576320" y="4875840"/>
              <a:ext cx="4567680" cy="3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  <p:cxnSp>
          <p:nvCxnSpPr>
            <p:cNvPr id="31" name="Google Shape;42;p6"/>
            <p:cNvCxnSpPr/>
            <p:nvPr/>
          </p:nvCxnSpPr>
          <p:spPr>
            <a:xfrm flipV="1">
              <a:off x="141840" y="0"/>
              <a:ext cx="360" cy="3958560"/>
            </a:xfrm>
            <a:prstGeom prst="straightConnector1">
              <a:avLst/>
            </a:prstGeom>
            <a:ln w="9525">
              <a:solidFill>
                <a:srgbClr val="0A0A0A"/>
              </a:solidFill>
              <a:round/>
            </a:ln>
          </p:spPr>
        </p:cxnSp>
      </p:grp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714240" y="-714240"/>
            <a:ext cx="56005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00" b="0" u="none" strike="noStrike">
                <a:solidFill>
                  <a:srgbClr val="0A0A0A"/>
                </a:solidFill>
                <a:effectLst/>
                <a:uFillTx/>
                <a:latin typeface="Golos Text"/>
              </a:rPr>
              <a:t>Priority Scheduling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14240" y="1704960"/>
            <a:ext cx="560052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and Systems Programming Project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6DA95A-9371-45A8-1C0D-A54929CC04A0}"/>
              </a:ext>
            </a:extLst>
          </p:cNvPr>
          <p:cNvSpPr txBox="1"/>
          <p:nvPr/>
        </p:nvSpPr>
        <p:spPr>
          <a:xfrm>
            <a:off x="714240" y="936702"/>
            <a:ext cx="50100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 Scheduling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08AAC-ACFA-6E9B-10E9-32CE7AED59D4}"/>
              </a:ext>
            </a:extLst>
          </p:cNvPr>
          <p:cNvSpPr txBox="1"/>
          <p:nvPr/>
        </p:nvSpPr>
        <p:spPr>
          <a:xfrm>
            <a:off x="877229" y="2368231"/>
            <a:ext cx="3977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Section: 6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No.: 20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Somisetty Ketana Sindhu-2520030487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Yerrolaa Eekshitha— 2520030615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Poojitha Rani— 2520030460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1690560" y="1502006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C-based, Linux/Ubuntu terminal-oriented CPU Scheduling project.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 Scheduling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 Scheduling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Process ID, Arrival Time, Burst Time and Priority as input.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Completion Time, Turnaround Time, Waiting Time and Response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Gantt Charts to represent process execution.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Linux system calls, process management and IPC concepts.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3D55-0221-A175-BC14-496E3749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62283DD0-1273-492C-4E79-DCE234BE68E9}"/>
              </a:ext>
            </a:extLst>
          </p:cNvPr>
          <p:cNvSpPr/>
          <p:nvPr/>
        </p:nvSpPr>
        <p:spPr>
          <a:xfrm>
            <a:off x="441624" y="1368191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Linux-based CPU Scheduling project developed using C.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Priority Scheduling for multiple processes.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Input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Calculation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Arrival Time, Burst Time and Priority.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priority number represents higher priority.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931297D-F766-C1DD-1BE5-D5350CA9A3D0}"/>
              </a:ext>
            </a:extLst>
          </p:cNvPr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D7D5A8-F912-2002-96D4-81F59FE5A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308" y="1235942"/>
            <a:ext cx="2697313" cy="290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44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ACDA3-A4BB-F1D8-817C-9950296E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E93B1F85-8EC9-0717-1598-D32656DD8611}"/>
              </a:ext>
            </a:extLst>
          </p:cNvPr>
          <p:cNvSpPr/>
          <p:nvPr/>
        </p:nvSpPr>
        <p:spPr>
          <a:xfrm>
            <a:off x="449058" y="1235942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SYSTEM CALLS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basic Linux system calls.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Demonstrated: </a:t>
            </a:r>
          </a:p>
          <a:p>
            <a:pPr lvl="1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lvl="1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lvl="1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getuid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lvl="1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uname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write()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user-space and kernel interaction.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file and system services using: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open()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write()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close() </a:t>
            </a:r>
          </a:p>
          <a:p>
            <a:pPr lvl="1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getcwd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shell command execution using system().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B040BBA-08BE-8BBA-5478-00778DBB60E1}"/>
              </a:ext>
            </a:extLst>
          </p:cNvPr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CO1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AA7E4-E424-A765-2CFD-A46CAF08DE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30" y="998231"/>
            <a:ext cx="4393580" cy="1686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774467-1FC7-17FD-C409-325F08217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30" y="2770301"/>
            <a:ext cx="4393580" cy="1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53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60CB-1383-0FC5-AE77-FF1ABB3D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4B820CBE-020E-5290-BB37-E904E70616EA}"/>
              </a:ext>
            </a:extLst>
          </p:cNvPr>
          <p:cNvSpPr/>
          <p:nvPr/>
        </p:nvSpPr>
        <p:spPr>
          <a:xfrm>
            <a:off x="449058" y="1235942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D051FC4-A23E-4024-50C3-C69732EF36BA}"/>
              </a:ext>
            </a:extLst>
          </p:cNvPr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CO1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E4405-09B7-937F-0D2B-1912DB45B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58" y="1079863"/>
            <a:ext cx="4177428" cy="3420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E841A4-341F-D889-6985-2159A79C35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684" y="1079864"/>
            <a:ext cx="3908099" cy="342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5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86A2-1F76-1980-CA2E-59377DE39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C95E8E3F-7DF0-129C-C16E-FB8C08D1C017}"/>
              </a:ext>
            </a:extLst>
          </p:cNvPr>
          <p:cNvSpPr/>
          <p:nvPr/>
        </p:nvSpPr>
        <p:spPr>
          <a:xfrm>
            <a:off x="449058" y="1235942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CREATION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process creation using fork().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parent and child processes.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EXECUTION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exec() /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program replacement.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wait() for parent-child synchronization.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LIFECYCLE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Demonstrated: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</a:p>
          <a:p>
            <a:pPr lvl="1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8C6AD9B-04F4-6663-FEE4-D1F0C5D0AE5E}"/>
              </a:ext>
            </a:extLst>
          </p:cNvPr>
          <p:cNvSpPr/>
          <p:nvPr/>
        </p:nvSpPr>
        <p:spPr>
          <a:xfrm>
            <a:off x="714600" y="273643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506257-5358-2045-4538-7DE46DA413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29" y="800208"/>
            <a:ext cx="3601191" cy="1861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D106BD-E3A6-ED1E-1A64-73002990DD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29" y="2798166"/>
            <a:ext cx="3601191" cy="186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9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4157-FE50-68D0-F81E-A4A0507F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37E0DED3-737D-2C8B-1FD7-C3D44BDEFE19}"/>
              </a:ext>
            </a:extLst>
          </p:cNvPr>
          <p:cNvSpPr/>
          <p:nvPr/>
        </p:nvSpPr>
        <p:spPr>
          <a:xfrm>
            <a:off x="449058" y="1235942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78D388C-3F2F-483B-9351-035373867706}"/>
              </a:ext>
            </a:extLst>
          </p:cNvPr>
          <p:cNvSpPr/>
          <p:nvPr/>
        </p:nvSpPr>
        <p:spPr>
          <a:xfrm>
            <a:off x="714240" y="154454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0FC5A-2335-EBEA-79F0-537F27DCB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18" y="619036"/>
            <a:ext cx="4163122" cy="40867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68FBDB-3C4A-CC49-0F07-86E4D29E9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888" y="619036"/>
            <a:ext cx="4163122" cy="408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32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F975-224B-4F3D-4B69-6AAF141E8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5BCDC46-6EB9-D49C-9E67-86E4C43B9535}"/>
              </a:ext>
            </a:extLst>
          </p:cNvPr>
          <p:cNvSpPr/>
          <p:nvPr/>
        </p:nvSpPr>
        <p:spPr>
          <a:xfrm>
            <a:off x="449058" y="1235942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NON-PREEMPTIVE PRIORITY SCHEDULING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ID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Arrival Time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Burst Time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processes that have arrived.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highest-priority process.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the selected process until completion.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to the next eligible process. 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Time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</a:t>
            </a:r>
          </a:p>
          <a:p>
            <a:pPr lvl="0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0A898A4-F5FF-0671-4E8D-9FA376CC28B5}"/>
              </a:ext>
            </a:extLst>
          </p:cNvPr>
          <p:cNvSpPr/>
          <p:nvPr/>
        </p:nvSpPr>
        <p:spPr>
          <a:xfrm>
            <a:off x="714600" y="182094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142BF-E62C-26A4-936B-4818612CA6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5" y="650207"/>
            <a:ext cx="4487215" cy="2022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F47D23-1065-76C4-AF46-6A35AD830B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5" y="2807304"/>
            <a:ext cx="4487215" cy="202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1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FFAB7-06DE-A8B3-A824-E94164EF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7F33846C-AF46-B14D-56FE-C4BE7857689D}"/>
              </a:ext>
            </a:extLst>
          </p:cNvPr>
          <p:cNvSpPr/>
          <p:nvPr/>
        </p:nvSpPr>
        <p:spPr>
          <a:xfrm>
            <a:off x="449060" y="1299579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PREEMPTIVE PRIORITY SCHEDULING</a:t>
            </a: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available processes at every time unit.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highest-priority process.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higher-priority processes to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running process.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remaining burst time.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Resumes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preempted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when selected again. </a:t>
            </a:r>
          </a:p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Time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</a:t>
            </a:r>
          </a:p>
          <a:p>
            <a:pPr lvl="0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ED269F4-3F92-6438-89C0-DCC1CFDEF7AF}"/>
              </a:ext>
            </a:extLst>
          </p:cNvPr>
          <p:cNvSpPr/>
          <p:nvPr/>
        </p:nvSpPr>
        <p:spPr>
          <a:xfrm>
            <a:off x="-996177" y="288535"/>
            <a:ext cx="5203901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6B5421-6AE2-3A5E-4CD4-293D02648B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5" y="288535"/>
            <a:ext cx="4487215" cy="2022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2670A-759A-452A-B244-E68B185FC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4" y="2364229"/>
            <a:ext cx="4487215" cy="26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2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56FF-0B7B-FCF1-FA0A-B005FC0C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6F5E2E4C-6B31-1231-BD9B-91EFEFE1FCAB}"/>
              </a:ext>
            </a:extLst>
          </p:cNvPr>
          <p:cNvSpPr/>
          <p:nvPr/>
        </p:nvSpPr>
        <p:spPr>
          <a:xfrm>
            <a:off x="449058" y="1235942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0718DC2-379F-F3B6-BA68-B28481383ECD}"/>
              </a:ext>
            </a:extLst>
          </p:cNvPr>
          <p:cNvSpPr/>
          <p:nvPr/>
        </p:nvSpPr>
        <p:spPr>
          <a:xfrm>
            <a:off x="714240" y="154454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Results – CO2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CB2BAB-7DCA-DF48-3815-5779871D3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23" y="658158"/>
            <a:ext cx="4201817" cy="4008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3A0914-BEFE-9A76-EB62-341D18D7E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875" y="665128"/>
            <a:ext cx="4201817" cy="400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00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0F2E3-7188-E0CA-52D2-536893CD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ED15FA39-CED5-57FB-09CE-7C2911D59857}"/>
              </a:ext>
            </a:extLst>
          </p:cNvPr>
          <p:cNvSpPr/>
          <p:nvPr/>
        </p:nvSpPr>
        <p:spPr>
          <a:xfrm>
            <a:off x="1167723" y="1458967"/>
            <a:ext cx="1880277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/ Laptop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CFE5AE8-9731-A6B2-3933-1697F3EB6324}"/>
              </a:ext>
            </a:extLst>
          </p:cNvPr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SOFTWARE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691F4-F701-A2DC-9BF0-3B656FF3A309}"/>
              </a:ext>
            </a:extLst>
          </p:cNvPr>
          <p:cNvSpPr txBox="1"/>
          <p:nvPr/>
        </p:nvSpPr>
        <p:spPr>
          <a:xfrm>
            <a:off x="4512349" y="1365531"/>
            <a:ext cx="31673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Linux / Ubuntu / WSL2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C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Compiler: GCC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 Linux Terminal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Editor: Visual Studio Code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Programming: Linux/POSIX APIs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 / GitHub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1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8D2E-0E59-938C-439F-F1D5F909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F6AD2B0A-8C1F-84DD-7C82-C4ED87792434}"/>
              </a:ext>
            </a:extLst>
          </p:cNvPr>
          <p:cNvSpPr/>
          <p:nvPr/>
        </p:nvSpPr>
        <p:spPr>
          <a:xfrm>
            <a:off x="1980492" y="1516875"/>
            <a:ext cx="576216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Linux-based Priority Scheduling project using C.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 Scheduling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 Scheduling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CT, TAT, WT and RT.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Gantt Charts for process execution.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CO-1 — Linux system calls.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CO-2 — Process creation and process management.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CO-3 — Inter-Process Communication.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tested all implemented modules.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8781954-4076-70A6-21A7-BE3A709EE718}"/>
              </a:ext>
            </a:extLst>
          </p:cNvPr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>
                <a:solidFill>
                  <a:srgbClr val="0A0A0A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16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BAD7-42C2-4DF6-9D84-BAB11E4C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AD9C2A1D-F1D3-51E2-BF8D-534C91AFE381}"/>
              </a:ext>
            </a:extLst>
          </p:cNvPr>
          <p:cNvSpPr/>
          <p:nvPr/>
        </p:nvSpPr>
        <p:spPr>
          <a:xfrm>
            <a:off x="766280" y="1458967"/>
            <a:ext cx="1880277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EXTENSION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Implement additional CPU scheduling algorithms.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Compare scheduling performance.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Support larger process sets.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06E2EC1-EE69-54E6-1380-098FC437EE1E}"/>
              </a:ext>
            </a:extLst>
          </p:cNvPr>
          <p:cNvSpPr/>
          <p:nvPr/>
        </p:nvSpPr>
        <p:spPr>
          <a:xfrm>
            <a:off x="714240" y="466560"/>
            <a:ext cx="7714800" cy="3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6DC40-1FFB-E4CB-DAB1-D3A98FB71A65}"/>
              </a:ext>
            </a:extLst>
          </p:cNvPr>
          <p:cNvSpPr txBox="1"/>
          <p:nvPr/>
        </p:nvSpPr>
        <p:spPr>
          <a:xfrm>
            <a:off x="3226420" y="1458967"/>
            <a:ext cx="264655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Gantt Charts.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graphical scheduling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process visualization</a:t>
            </a:r>
            <a:r>
              <a:rPr lang="en-IN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71E78-F42A-C43F-3EC9-F7F52BE7E09A}"/>
              </a:ext>
            </a:extLst>
          </p:cNvPr>
          <p:cNvSpPr txBox="1"/>
          <p:nvPr/>
        </p:nvSpPr>
        <p:spPr>
          <a:xfrm>
            <a:off x="6341327" y="1458967"/>
            <a:ext cx="208771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EXTENSION</a:t>
            </a: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additional Linux/POSIX APIs.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process monitoring.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IPC-based communication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82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76CC-FB2B-B25C-48AE-73DCE95D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FE8C4B0-007E-3FEC-1103-820DC6A67592}"/>
              </a:ext>
            </a:extLst>
          </p:cNvPr>
          <p:cNvSpPr/>
          <p:nvPr/>
        </p:nvSpPr>
        <p:spPr>
          <a:xfrm>
            <a:off x="714240" y="-714240"/>
            <a:ext cx="56005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100" b="0" u="none" strike="noStrike">
                <a:solidFill>
                  <a:srgbClr val="0A0A0A"/>
                </a:solidFill>
                <a:effectLst/>
                <a:uFillTx/>
                <a:latin typeface="Golos Text"/>
              </a:rPr>
              <a:t>Priority Scheduling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B0A3E8-EDCE-211E-0198-DD17EB15D88E}"/>
              </a:ext>
            </a:extLst>
          </p:cNvPr>
          <p:cNvSpPr/>
          <p:nvPr/>
        </p:nvSpPr>
        <p:spPr>
          <a:xfrm>
            <a:off x="2513304" y="1794615"/>
            <a:ext cx="560052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400" dirty="0"/>
              <a:t>Priority Scheduling — Team 20 | Section - 6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A30898-4A85-76A5-F585-C4D4CE3B78CB}"/>
              </a:ext>
            </a:extLst>
          </p:cNvPr>
          <p:cNvSpPr txBox="1"/>
          <p:nvPr/>
        </p:nvSpPr>
        <p:spPr>
          <a:xfrm>
            <a:off x="2865863" y="1025174"/>
            <a:ext cx="50100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FC458-E2F4-EC10-682D-E73BAFB1767D}"/>
              </a:ext>
            </a:extLst>
          </p:cNvPr>
          <p:cNvSpPr txBox="1"/>
          <p:nvPr/>
        </p:nvSpPr>
        <p:spPr>
          <a:xfrm>
            <a:off x="2337492" y="2345928"/>
            <a:ext cx="3977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Somisetty Ketana Sindhu-2520030487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Yerrolaa Eekshitha— 2520030615 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Poojitha Rani— 2520030460 </a:t>
            </a:r>
          </a:p>
        </p:txBody>
      </p:sp>
    </p:spTree>
    <p:extLst>
      <p:ext uri="{BB962C8B-B14F-4D97-AF65-F5344CB8AC3E}">
        <p14:creationId xmlns:p14="http://schemas.microsoft.com/office/powerpoint/2010/main" val="1954703653"/>
      </p:ext>
    </p:extLst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541</Words>
  <Application>Microsoft Office PowerPoint</Application>
  <PresentationFormat>On-screen Show (16:9)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Commissioner</vt:lpstr>
      <vt:lpstr>Golos Text</vt:lpstr>
      <vt:lpstr>OpenSymbol</vt:lpstr>
      <vt:lpstr>Symbol</vt:lpstr>
      <vt:lpstr>Times New Roman</vt:lpstr>
      <vt:lpstr>Wingdings</vt:lpstr>
      <vt:lpstr>Formulating a Research Problem for University Students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sindhu somisetty</cp:lastModifiedBy>
  <cp:revision>3</cp:revision>
  <dcterms:modified xsi:type="dcterms:W3CDTF">2026-09-22T04:05:58Z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2026-09-22T02:41:46Z</dcterms:created>
  <dc:creator>Slidesgo AI</dc:creator>
  <dc:description/>
  <dc:language>en-US</dc:language>
  <cp:lastModifiedBy>Unknown Creator</cp:lastModifiedBy>
  <dcterms:modified xsi:type="dcterms:W3CDTF">2026-09-22T02:41:46Z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a2cdb926-e7fc-437a-a032-061c2f0e88f0</vt:lpwstr>
  </property>
</Properties>
</file>